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4ED8"/>
        </a:solidFill>
      </p:bgPr>
    </p:bg>
    <p:spTree>
      <p:nvGrpSpPr>
        <p:cNvPr id="1" name=""/>
        <p:cNvGrpSpPr/>
        <p:nvPr/>
      </p:nvGrpSpPr>
      <p:grpSpPr>
        <a:xfrm>
          <a:off x="0" y="0"/>
          <a:ext cx="0" cy="0"/>
          <a:chOff x="0" y="0"/>
          <a:chExt cx="0" cy="0"/>
        </a:xfrm>
      </p:grpSpPr>
      <p:sp>
        <p:nvSpPr>
          <p:cNvPr id="2" name="Text 0"/>
          <p:cNvSpPr/>
          <p:nvPr/>
        </p:nvSpPr>
        <p:spPr>
          <a:xfrm>
            <a:off x="457200" y="1371600"/>
            <a:ext cx="10972800" cy="548640"/>
          </a:xfrm>
          <a:prstGeom prst="rect">
            <a:avLst/>
          </a:prstGeom>
          <a:noFill/>
          <a:ln/>
        </p:spPr>
        <p:txBody>
          <a:bodyPr wrap="square" rtlCol="0" anchor="ctr"/>
          <a:lstStyle/>
          <a:p>
            <a:pPr algn="ctr" indent="0" marL="0">
              <a:buNone/>
            </a:pPr>
            <a:r>
              <a:rPr lang="en-US" sz="1000" b="1" spc="400" kern="0" dirty="0">
                <a:solidFill>
                  <a:srgbClr val="FFFFFF"/>
                </a:solidFill>
              </a:rPr>
              <a:t>IMPACT PARTNERSHIP PROPOSAL</a:t>
            </a:r>
            <a:endParaRPr lang="en-US" sz="1000" dirty="0"/>
          </a:p>
        </p:txBody>
      </p:sp>
      <p:sp>
        <p:nvSpPr>
          <p:cNvPr id="3" name="Text 1"/>
          <p:cNvSpPr/>
          <p:nvPr/>
        </p:nvSpPr>
        <p:spPr>
          <a:xfrm>
            <a:off x="457200" y="2011680"/>
            <a:ext cx="10972800" cy="914400"/>
          </a:xfrm>
          <a:prstGeom prst="rect">
            <a:avLst/>
          </a:prstGeom>
          <a:noFill/>
          <a:ln/>
        </p:spPr>
        <p:txBody>
          <a:bodyPr wrap="square" rtlCol="0" anchor="ctr"/>
          <a:lstStyle/>
          <a:p>
            <a:pPr algn="ctr" indent="0" marL="0">
              <a:buNone/>
            </a:pPr>
            <a:r>
              <a:rPr lang="en-US" sz="3600" b="1" dirty="0">
                <a:solidFill>
                  <a:srgbClr val="FFFFFF"/>
                </a:solidFill>
              </a:rPr>
              <a:t>Tata Consultancy Services</a:t>
            </a:r>
            <a:endParaRPr lang="en-US" sz="3600" dirty="0"/>
          </a:p>
        </p:txBody>
      </p:sp>
      <p:sp>
        <p:nvSpPr>
          <p:cNvPr id="4" name="Text 2"/>
          <p:cNvSpPr/>
          <p:nvPr/>
        </p:nvSpPr>
        <p:spPr>
          <a:xfrm>
            <a:off x="457200" y="3200400"/>
            <a:ext cx="10972800" cy="457200"/>
          </a:xfrm>
          <a:prstGeom prst="rect">
            <a:avLst/>
          </a:prstGeom>
          <a:noFill/>
          <a:ln/>
        </p:spPr>
        <p:txBody>
          <a:bodyPr wrap="square" rtlCol="0" anchor="ctr"/>
          <a:lstStyle/>
          <a:p>
            <a:pPr algn="ctr" indent="0" marL="0">
              <a:buNone/>
            </a:pPr>
            <a:r>
              <a:rPr lang="en-US" sz="1300" dirty="0">
                <a:solidFill>
                  <a:srgbClr val="FFFFFF"/>
                </a:solidFill>
              </a:rPr>
              <a:t>Sector: HEALTHCARE   |   Geography: Tamil Nadu   |   Budget: ₹20.0L – ₹30.0L</a:t>
            </a:r>
            <a:endParaRPr lang="en-US" sz="1300" dirty="0"/>
          </a:p>
        </p:txBody>
      </p:sp>
      <p:sp>
        <p:nvSpPr>
          <p:cNvPr id="5" name="Text 3"/>
          <p:cNvSpPr/>
          <p:nvPr/>
        </p:nvSpPr>
        <p:spPr>
          <a:xfrm rot="-2100000">
            <a:off x="914400" y="1371600"/>
            <a:ext cx="10058400" cy="3657600"/>
          </a:xfrm>
          <a:prstGeom prst="rect">
            <a:avLst/>
          </a:prstGeom>
          <a:noFill/>
          <a:ln/>
        </p:spPr>
        <p:txBody>
          <a:bodyPr wrap="square" rtlCol="0" anchor="ctr"/>
          <a:lstStyle/>
          <a:p>
            <a:pPr algn="ctr" indent="0" marL="0">
              <a:buNone/>
            </a:pPr>
            <a:r>
              <a:rPr lang="en-US" sz="6000" b="1" dirty="0">
                <a:solidFill>
                  <a:srgbClr val="CBD5E1">
                    <a:alpha val="25000"/>
                  </a:srgbClr>
                </a:solidFill>
              </a:rPr>
              <a:t>DRAFT</a:t>
            </a:r>
            <a:endParaRPr lang="en-US" sz="6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0972800" cy="548640"/>
          </a:xfrm>
          <a:prstGeom prst="rect">
            <a:avLst/>
          </a:prstGeom>
          <a:noFill/>
          <a:ln/>
        </p:spPr>
        <p:txBody>
          <a:bodyPr wrap="square" rtlCol="0" anchor="ctr"/>
          <a:lstStyle/>
          <a:p>
            <a:pPr indent="0" marL="0">
              <a:buNone/>
            </a:pPr>
            <a:r>
              <a:rPr lang="en-US" sz="2000" b="1" dirty="0">
                <a:solidFill>
                  <a:srgbClr val="1E293B"/>
                </a:solidFill>
              </a:rPr>
              <a:t>Proposed Initiatives</a:t>
            </a:r>
            <a:endParaRPr lang="en-US" sz="2000" dirty="0"/>
          </a:p>
        </p:txBody>
      </p:sp>
      <p:sp>
        <p:nvSpPr>
          <p:cNvPr id="3" name="Text 1"/>
          <p:cNvSpPr/>
          <p:nvPr/>
        </p:nvSpPr>
        <p:spPr>
          <a:xfrm>
            <a:off x="457200" y="822960"/>
            <a:ext cx="10972800" cy="274320"/>
          </a:xfrm>
          <a:prstGeom prst="rect">
            <a:avLst/>
          </a:prstGeom>
          <a:noFill/>
          <a:ln/>
        </p:spPr>
        <p:txBody>
          <a:bodyPr wrap="square" rtlCol="0" anchor="ctr"/>
          <a:lstStyle/>
          <a:p>
            <a:pPr indent="0" marL="0">
              <a:buNone/>
            </a:pPr>
            <a:r>
              <a:rPr lang="en-US" sz="1300" dirty="0">
                <a:solidFill>
                  <a:srgbClr val="64748B"/>
                </a:solidFill>
              </a:rPr>
              <a:t>3 initiatives selected based on HEALTHCARE alignment</a:t>
            </a:r>
            <a:endParaRPr lang="en-US" sz="13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47120" cy="4114800"/>
        </p:xfrm>
        <a:graphic>
          <a:graphicData uri="http://schemas.openxmlformats.org/drawingml/2006/table">
            <a:tbl>
              <a:tblPr/>
              <a:tblGrid>
                <a:gridCol w="2249424"/>
                <a:gridCol w="2249424"/>
                <a:gridCol w="2249424"/>
                <a:gridCol w="2249424"/>
                <a:gridCol w="2249424"/>
              </a:tblGrid>
              <a:tr h="502920">
                <a:tc>
                  <a:txBody>
                    <a:bodyPr/>
                    <a:lstStyle/>
                    <a:p>
                      <a:pPr algn="l" indent="0" marL="0">
                        <a:buNone/>
                      </a:pPr>
                      <a:r>
                        <a:rPr lang="en-US" sz="1300" b="1" dirty="0">
                          <a:solidFill>
                            <a:srgbClr val="FFFFFF"/>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D4ED8"/>
                    </a:solidFill>
                  </a:tcPr>
                </a:tc>
                <a:tc>
                  <a:txBody>
                    <a:bodyPr/>
                    <a:lstStyle/>
                    <a:p>
                      <a:pPr algn="l" indent="0" marL="0">
                        <a:buNone/>
                      </a:pPr>
                      <a:r>
                        <a:rPr lang="en-US" sz="1300" b="1" dirty="0">
                          <a:solidFill>
                            <a:srgbClr val="FFFFFF"/>
                          </a:solidFill>
                        </a:rPr>
                        <a:t>Initiative</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D4ED8"/>
                    </a:solidFill>
                  </a:tcPr>
                </a:tc>
                <a:tc>
                  <a:txBody>
                    <a:bodyPr/>
                    <a:lstStyle/>
                    <a:p>
                      <a:pPr algn="l" indent="0" marL="0">
                        <a:buNone/>
                      </a:pPr>
                      <a:r>
                        <a:rPr lang="en-US" sz="1300" b="1" dirty="0">
                          <a:solidFill>
                            <a:srgbClr val="FFFFFF"/>
                          </a:solidFill>
                        </a:rPr>
                        <a:t>Score</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D4ED8"/>
                    </a:solidFill>
                  </a:tcPr>
                </a:tc>
                <a:tc>
                  <a:txBody>
                    <a:bodyPr/>
                    <a:lstStyle/>
                    <a:p>
                      <a:pPr algn="l" indent="0" marL="0">
                        <a:buNone/>
                      </a:pPr>
                      <a:r>
                        <a:rPr lang="en-US" sz="1300" b="1" dirty="0">
                          <a:solidFill>
                            <a:srgbClr val="FFFFFF"/>
                          </a:solidFill>
                        </a:rPr>
                        <a:t>Budget Gap</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D4ED8"/>
                    </a:solidFill>
                  </a:tcPr>
                </a:tc>
                <a:tc>
                  <a:txBody>
                    <a:bodyPr/>
                    <a:lstStyle/>
                    <a:p>
                      <a:pPr algn="l" indent="0" marL="0">
                        <a:buNone/>
                      </a:pPr>
                      <a:r>
                        <a:rPr lang="en-US" sz="1300" b="1" dirty="0">
                          <a:solidFill>
                            <a:srgbClr val="FFFFFF"/>
                          </a:solidFill>
                        </a:rPr>
                        <a:t>Geography</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D4ED8"/>
                    </a:solidFill>
                  </a:tcPr>
                </a:tc>
              </a:tr>
              <a:tr h="502920">
                <a:tc>
                  <a:txBody>
                    <a:bodyPr/>
                    <a:lstStyle/>
                    <a:p>
                      <a:pPr algn="ctr" indent="0" marL="0">
                        <a:buNone/>
                      </a:pPr>
                      <a:r>
                        <a:rPr lang="en-US" sz="1300" dirty="0">
                          <a:solidFill>
                            <a:srgbClr val="000000"/>
                          </a:solidFill>
                        </a:rPr>
                        <a:t>1</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300" dirty="0">
                          <a:solidFill>
                            <a:srgbClr val="000000"/>
                          </a:solidFill>
                        </a:rPr>
                        <a:t>Mobile Health Clinics — Tribal Districts of Odisha</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300" dirty="0">
                          <a:solidFill>
                            <a:srgbClr val="D97706"/>
                          </a:solidFill>
                        </a:rPr>
                        <a:t>62/100</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300" dirty="0">
                          <a:solidFill>
                            <a:srgbClr val="000000"/>
                          </a:solidFill>
                        </a:rPr>
                        <a:t>₹45.0L</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300" dirty="0">
                          <a:solidFill>
                            <a:srgbClr val="000000"/>
                          </a:solidFill>
                        </a:rPr>
                        <a:t>Odisha</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02920">
                <a:tc>
                  <a:txBody>
                    <a:bodyPr/>
                    <a:lstStyle/>
                    <a:p>
                      <a:pPr algn="ctr" indent="0" marL="0">
                        <a:buNone/>
                      </a:pPr>
                      <a:r>
                        <a:rPr lang="en-US" sz="1300" dirty="0">
                          <a:solidFill>
                            <a:srgbClr val="000000"/>
                          </a:solidFill>
                        </a:rPr>
                        <a:t>2</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300" dirty="0">
                          <a:solidFill>
                            <a:srgbClr val="000000"/>
                          </a:solidFill>
                        </a:rPr>
                        <a:t>Women Entrepreneurship — Micro-Finance + Skill Training</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300" dirty="0">
                          <a:solidFill>
                            <a:srgbClr val="DC2626"/>
                          </a:solidFill>
                        </a:rPr>
                        <a:t>36/100</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300" dirty="0">
                          <a:solidFill>
                            <a:srgbClr val="000000"/>
                          </a:solidFill>
                        </a:rPr>
                        <a:t>₹28.0L</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300" dirty="0">
                          <a:solidFill>
                            <a:srgbClr val="000000"/>
                          </a:solidFill>
                        </a:rPr>
                        <a:t>Rajasthan</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02920">
                <a:tc>
                  <a:txBody>
                    <a:bodyPr/>
                    <a:lstStyle/>
                    <a:p>
                      <a:pPr algn="ctr" indent="0" marL="0">
                        <a:buNone/>
                      </a:pPr>
                      <a:r>
                        <a:rPr lang="en-US" sz="1300" dirty="0">
                          <a:solidFill>
                            <a:srgbClr val="000000"/>
                          </a:solidFill>
                        </a:rPr>
                        <a:t>3</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300" dirty="0">
                          <a:solidFill>
                            <a:srgbClr val="000000"/>
                          </a:solidFill>
                        </a:rPr>
                        <a:t>Rainwater Harvesting — 50 Villages in Bundelkhand</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300" dirty="0">
                          <a:solidFill>
                            <a:srgbClr val="DC2626"/>
                          </a:solidFill>
                        </a:rPr>
                        <a:t>27/100</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300" dirty="0">
                          <a:solidFill>
                            <a:srgbClr val="000000"/>
                          </a:solidFill>
                        </a:rPr>
                        <a:t>₹32.0L</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300" dirty="0">
                          <a:solidFill>
                            <a:srgbClr val="000000"/>
                          </a:solidFill>
                        </a:rPr>
                        <a:t>Madhya Pradesh</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5" name="Text 2"/>
          <p:cNvSpPr/>
          <p:nvPr/>
        </p:nvSpPr>
        <p:spPr>
          <a:xfrm rot="-2100000">
            <a:off x="914400" y="1371600"/>
            <a:ext cx="10058400" cy="3657600"/>
          </a:xfrm>
          <a:prstGeom prst="rect">
            <a:avLst/>
          </a:prstGeom>
          <a:noFill/>
          <a:ln/>
        </p:spPr>
        <p:txBody>
          <a:bodyPr wrap="square" rtlCol="0" anchor="ctr"/>
          <a:lstStyle/>
          <a:p>
            <a:pPr algn="ctr" indent="0" marL="0">
              <a:buNone/>
            </a:pPr>
            <a:r>
              <a:rPr lang="en-US" sz="6000" b="1" dirty="0">
                <a:solidFill>
                  <a:srgbClr val="CBD5E1">
                    <a:alpha val="25000"/>
                  </a:srgbClr>
                </a:solidFill>
              </a:rPr>
              <a:t>DRAFT</a:t>
            </a:r>
            <a:endParaRPr lang="en-US" sz="6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914400"/>
          </a:xfrm>
          <a:prstGeom prst="rect">
            <a:avLst/>
          </a:prstGeom>
          <a:solidFill>
            <a:srgbClr val="1D4ED8"/>
          </a:solidFill>
          <a:ln/>
        </p:spPr>
      </p:sp>
      <p:sp>
        <p:nvSpPr>
          <p:cNvPr id="3" name="Text 1"/>
          <p:cNvSpPr/>
          <p:nvPr/>
        </p:nvSpPr>
        <p:spPr>
          <a:xfrm>
            <a:off x="457200" y="137160"/>
            <a:ext cx="8229600" cy="640080"/>
          </a:xfrm>
          <a:prstGeom prst="rect">
            <a:avLst/>
          </a:prstGeom>
          <a:noFill/>
          <a:ln/>
        </p:spPr>
        <p:txBody>
          <a:bodyPr wrap="square" rtlCol="0" anchor="ctr"/>
          <a:lstStyle/>
          <a:p>
            <a:pPr indent="0" marL="0">
              <a:buNone/>
            </a:pPr>
            <a:r>
              <a:rPr lang="en-US" sz="2000" b="1" dirty="0">
                <a:solidFill>
                  <a:srgbClr val="FFFFFF"/>
                </a:solidFill>
              </a:rPr>
              <a:t>Mobile Health Clinics — Tribal Districts of Odisha</a:t>
            </a:r>
            <a:endParaRPr lang="en-US" sz="2000" dirty="0"/>
          </a:p>
        </p:txBody>
      </p:sp>
      <p:sp>
        <p:nvSpPr>
          <p:cNvPr id="4" name="Text 2"/>
          <p:cNvSpPr/>
          <p:nvPr/>
        </p:nvSpPr>
        <p:spPr>
          <a:xfrm>
            <a:off x="8961120" y="182880"/>
            <a:ext cx="2560320" cy="548640"/>
          </a:xfrm>
          <a:prstGeom prst="rect">
            <a:avLst/>
          </a:prstGeom>
          <a:noFill/>
          <a:ln/>
        </p:spPr>
        <p:txBody>
          <a:bodyPr wrap="square" rtlCol="0" anchor="ctr"/>
          <a:lstStyle/>
          <a:p>
            <a:pPr algn="r" indent="0" marL="0">
              <a:buNone/>
            </a:pPr>
            <a:r>
              <a:rPr lang="en-US" sz="1500" b="1" dirty="0">
                <a:solidFill>
                  <a:srgbClr val="FFFFFF"/>
                </a:solidFill>
              </a:rPr>
              <a:t>Match Score: 62/100</a:t>
            </a:r>
            <a:endParaRPr lang="en-US" sz="1500" dirty="0"/>
          </a:p>
        </p:txBody>
      </p:sp>
      <p:sp>
        <p:nvSpPr>
          <p:cNvPr id="5" name="Text 3"/>
          <p:cNvSpPr/>
          <p:nvPr/>
        </p:nvSpPr>
        <p:spPr>
          <a:xfrm>
            <a:off x="457200" y="1097280"/>
            <a:ext cx="5486400" cy="320040"/>
          </a:xfrm>
          <a:prstGeom prst="rect">
            <a:avLst/>
          </a:prstGeom>
          <a:noFill/>
          <a:ln/>
        </p:spPr>
        <p:txBody>
          <a:bodyPr wrap="square" rtlCol="0" anchor="ctr"/>
          <a:lstStyle/>
          <a:p>
            <a:pPr indent="0" marL="0">
              <a:buNone/>
            </a:pPr>
            <a:r>
              <a:rPr lang="en-US" sz="1400" b="1" dirty="0">
                <a:solidFill>
                  <a:srgbClr val="1D4ED8"/>
                </a:solidFill>
              </a:rPr>
              <a:t>Initiative Overview</a:t>
            </a:r>
            <a:endParaRPr lang="en-US" sz="1400" dirty="0"/>
          </a:p>
        </p:txBody>
      </p:sp>
      <p:sp>
        <p:nvSpPr>
          <p:cNvPr id="6" name="Text 4"/>
          <p:cNvSpPr/>
          <p:nvPr/>
        </p:nvSpPr>
        <p:spPr>
          <a:xfrm>
            <a:off x="457200" y="1508760"/>
            <a:ext cx="5029200" cy="3200400"/>
          </a:xfrm>
          <a:prstGeom prst="rect">
            <a:avLst/>
          </a:prstGeom>
          <a:noFill/>
          <a:ln/>
        </p:spPr>
        <p:txBody>
          <a:bodyPr wrap="square" rtlCol="0" anchor="ctr"/>
          <a:lstStyle/>
          <a:p>
            <a:pPr indent="0" marL="0">
              <a:lnSpc>
                <a:spcPct val="140000"/>
              </a:lnSpc>
              <a:buNone/>
            </a:pPr>
            <a:r>
              <a:rPr lang="en-US" sz="1300" dirty="0">
                <a:solidFill>
                  <a:srgbClr val="1E293B"/>
                </a:solidFill>
              </a:rPr>
              <a:t>Sector: HEALTHCARE</a:t>
            </a:r>
            <a:endParaRPr lang="en-US" sz="1300" dirty="0"/>
          </a:p>
          <a:p>
            <a:pPr indent="0" marL="0">
              <a:lnSpc>
                <a:spcPct val="140000"/>
              </a:lnSpc>
              <a:buNone/>
            </a:pPr>
            <a:r>
              <a:rPr lang="en-US" sz="1300" dirty="0">
                <a:solidFill>
                  <a:srgbClr val="1E293B"/>
                </a:solidFill>
              </a:rPr>
              <a:t>Geography: Odisha, Koraput</a:t>
            </a:r>
            <a:endParaRPr lang="en-US" sz="1300" dirty="0"/>
          </a:p>
          <a:p>
            <a:pPr indent="0" marL="0">
              <a:lnSpc>
                <a:spcPct val="140000"/>
              </a:lnSpc>
              <a:buNone/>
            </a:pPr>
            <a:r>
              <a:rPr lang="en-US" sz="1300" dirty="0">
                <a:solidFill>
                  <a:srgbClr val="1E293B"/>
                </a:solidFill>
              </a:rPr>
              <a:t>Target Beneficiaries: 15,000</a:t>
            </a:r>
            <a:endParaRPr lang="en-US" sz="1300" dirty="0"/>
          </a:p>
          <a:p>
            <a:pPr indent="0" marL="0">
              <a:lnSpc>
                <a:spcPct val="140000"/>
              </a:lnSpc>
              <a:buNone/>
            </a:pPr>
            <a:r>
              <a:rPr lang="en-US" sz="1300" dirty="0">
                <a:solidFill>
                  <a:srgbClr val="1E293B"/>
                </a:solidFill>
              </a:rPr>
              <a:t>Budget Required: ₹45.0L</a:t>
            </a:r>
            <a:endParaRPr lang="en-US" sz="1300" dirty="0"/>
          </a:p>
          <a:p>
            <a:pPr indent="0" marL="0">
              <a:lnSpc>
                <a:spcPct val="140000"/>
              </a:lnSpc>
              <a:buNone/>
            </a:pPr>
            <a:r>
              <a:rPr lang="en-US" sz="1300" dirty="0">
                <a:solidFill>
                  <a:srgbClr val="1E293B"/>
                </a:solidFill>
              </a:rPr>
              <a:t>Funding Gap: ₹45.0L</a:t>
            </a:r>
            <a:endParaRPr lang="en-US" sz="1300" dirty="0"/>
          </a:p>
          <a:p>
            <a:pPr indent="0" marL="0">
              <a:lnSpc>
                <a:spcPct val="140000"/>
              </a:lnSpc>
              <a:buNone/>
            </a:pPr>
            <a:r>
              <a:rPr lang="en-US" sz="1300" dirty="0">
                <a:solidFill>
                  <a:srgbClr val="1E293B"/>
                </a:solidFill>
              </a:rPr>
              <a:t>Milestones Completed: 0/0</a:t>
            </a:r>
            <a:endParaRPr lang="en-US" sz="1300" dirty="0"/>
          </a:p>
          <a:p>
            <a:pPr indent="0" marL="0">
              <a:lnSpc>
                <a:spcPct val="140000"/>
              </a:lnSpc>
              <a:buNone/>
            </a:pPr>
            <a:r>
              <a:rPr lang="en-US" sz="1300" dirty="0">
                <a:solidFill>
                  <a:srgbClr val="1E293B"/>
                </a:solidFill>
              </a:rPr>
              <a:t>SDG Tags: SDG3, SDG10</a:t>
            </a:r>
            <a:endParaRPr lang="en-US" sz="1300" dirty="0"/>
          </a:p>
        </p:txBody>
      </p:sp>
      <p:sp>
        <p:nvSpPr>
          <p:cNvPr id="7" name="Text 5"/>
          <p:cNvSpPr/>
          <p:nvPr/>
        </p:nvSpPr>
        <p:spPr>
          <a:xfrm>
            <a:off x="5943600" y="1097280"/>
            <a:ext cx="5486400" cy="320040"/>
          </a:xfrm>
          <a:prstGeom prst="rect">
            <a:avLst/>
          </a:prstGeom>
          <a:noFill/>
          <a:ln/>
        </p:spPr>
        <p:txBody>
          <a:bodyPr wrap="square" rtlCol="0" anchor="ctr"/>
          <a:lstStyle/>
          <a:p>
            <a:pPr indent="0" marL="0">
              <a:buNone/>
            </a:pPr>
            <a:r>
              <a:rPr lang="en-US" sz="1400" b="1" dirty="0">
                <a:solidFill>
                  <a:srgbClr val="1D4ED8"/>
                </a:solidFill>
              </a:rPr>
              <a:t>Why This Match</a:t>
            </a:r>
            <a:endParaRPr lang="en-US" sz="1400" dirty="0"/>
          </a:p>
        </p:txBody>
      </p:sp>
      <p:sp>
        <p:nvSpPr>
          <p:cNvPr id="8" name="Text 6"/>
          <p:cNvSpPr/>
          <p:nvPr/>
        </p:nvSpPr>
        <p:spPr>
          <a:xfrm>
            <a:off x="5943600" y="1508760"/>
            <a:ext cx="5486400" cy="1645920"/>
          </a:xfrm>
          <a:prstGeom prst="rect">
            <a:avLst/>
          </a:prstGeom>
          <a:noFill/>
          <a:ln/>
        </p:spPr>
        <p:txBody>
          <a:bodyPr wrap="square" rtlCol="0" anchor="ctr"/>
          <a:lstStyle/>
          <a:p>
            <a:pPr indent="0" marL="0">
              <a:lnSpc>
                <a:spcPct val="150000"/>
              </a:lnSpc>
              <a:buNone/>
            </a:pPr>
            <a:r>
              <a:rPr lang="en-US" sz="1300" dirty="0">
                <a:solidFill>
                  <a:srgbClr val="1E293B"/>
                </a:solidFill>
              </a:rPr>
              <a:t>Sector alignment with overall score 62/100.</a:t>
            </a:r>
            <a:endParaRPr lang="en-US" sz="1300" dirty="0"/>
          </a:p>
        </p:txBody>
      </p:sp>
      <p:sp>
        <p:nvSpPr>
          <p:cNvPr id="9" name="Text 7"/>
          <p:cNvSpPr/>
          <p:nvPr/>
        </p:nvSpPr>
        <p:spPr>
          <a:xfrm>
            <a:off x="5943600" y="3291840"/>
            <a:ext cx="5486400" cy="274320"/>
          </a:xfrm>
          <a:prstGeom prst="rect">
            <a:avLst/>
          </a:prstGeom>
          <a:noFill/>
          <a:ln/>
        </p:spPr>
        <p:txBody>
          <a:bodyPr wrap="square" rtlCol="0" anchor="ctr"/>
          <a:lstStyle/>
          <a:p>
            <a:pPr indent="0" marL="0">
              <a:buNone/>
            </a:pPr>
            <a:r>
              <a:rPr lang="en-US" sz="1100" b="1" dirty="0">
                <a:solidFill>
                  <a:srgbClr val="64748B"/>
                </a:solidFill>
              </a:rPr>
              <a:t>Score Breakdown</a:t>
            </a:r>
            <a:endParaRPr lang="en-US" sz="1100" dirty="0"/>
          </a:p>
        </p:txBody>
      </p:sp>
      <p:sp>
        <p:nvSpPr>
          <p:cNvPr id="10" name="Text 8"/>
          <p:cNvSpPr/>
          <p:nvPr/>
        </p:nvSpPr>
        <p:spPr>
          <a:xfrm>
            <a:off x="5943600" y="3611880"/>
            <a:ext cx="5486400" cy="320040"/>
          </a:xfrm>
          <a:prstGeom prst="rect">
            <a:avLst/>
          </a:prstGeom>
          <a:noFill/>
          <a:ln/>
        </p:spPr>
        <p:txBody>
          <a:bodyPr wrap="square" rtlCol="0" anchor="ctr"/>
          <a:lstStyle/>
          <a:p>
            <a:pPr indent="0" marL="0">
              <a:buNone/>
            </a:pPr>
            <a:r>
              <a:rPr lang="en-US" sz="1100" dirty="0">
                <a:solidFill>
                  <a:srgbClr val="059669"/>
                </a:solidFill>
              </a:rPr>
              <a:t>Sector Alignment: 100/100</a:t>
            </a:r>
            <a:endParaRPr lang="en-US" sz="1100" dirty="0"/>
          </a:p>
        </p:txBody>
      </p:sp>
      <p:sp>
        <p:nvSpPr>
          <p:cNvPr id="11" name="Text 9"/>
          <p:cNvSpPr/>
          <p:nvPr/>
        </p:nvSpPr>
        <p:spPr>
          <a:xfrm>
            <a:off x="5943600" y="3977640"/>
            <a:ext cx="5486400" cy="320040"/>
          </a:xfrm>
          <a:prstGeom prst="rect">
            <a:avLst/>
          </a:prstGeom>
          <a:noFill/>
          <a:ln/>
        </p:spPr>
        <p:txBody>
          <a:bodyPr wrap="square" rtlCol="0" anchor="ctr"/>
          <a:lstStyle/>
          <a:p>
            <a:pPr indent="0" marL="0">
              <a:buNone/>
            </a:pPr>
            <a:r>
              <a:rPr lang="en-US" sz="1100" dirty="0">
                <a:solidFill>
                  <a:srgbClr val="DC2626"/>
                </a:solidFill>
              </a:rPr>
              <a:t>Geography Match: 30/100</a:t>
            </a:r>
            <a:endParaRPr lang="en-US" sz="1100" dirty="0"/>
          </a:p>
        </p:txBody>
      </p:sp>
      <p:sp>
        <p:nvSpPr>
          <p:cNvPr id="12" name="Text 10"/>
          <p:cNvSpPr/>
          <p:nvPr/>
        </p:nvSpPr>
        <p:spPr>
          <a:xfrm>
            <a:off x="5943600" y="4343400"/>
            <a:ext cx="5486400" cy="320040"/>
          </a:xfrm>
          <a:prstGeom prst="rect">
            <a:avLst/>
          </a:prstGeom>
          <a:noFill/>
          <a:ln/>
        </p:spPr>
        <p:txBody>
          <a:bodyPr wrap="square" rtlCol="0" anchor="ctr"/>
          <a:lstStyle/>
          <a:p>
            <a:pPr indent="0" marL="0">
              <a:buNone/>
            </a:pPr>
            <a:r>
              <a:rPr lang="en-US" sz="1100" dirty="0">
                <a:solidFill>
                  <a:srgbClr val="D97706"/>
                </a:solidFill>
              </a:rPr>
              <a:t>Budget Fit: 53/100</a:t>
            </a:r>
            <a:endParaRPr lang="en-US" sz="1100" dirty="0"/>
          </a:p>
        </p:txBody>
      </p:sp>
      <p:sp>
        <p:nvSpPr>
          <p:cNvPr id="13" name="Text 11"/>
          <p:cNvSpPr/>
          <p:nvPr/>
        </p:nvSpPr>
        <p:spPr>
          <a:xfrm>
            <a:off x="5943600" y="4709160"/>
            <a:ext cx="5486400" cy="320040"/>
          </a:xfrm>
          <a:prstGeom prst="rect">
            <a:avLst/>
          </a:prstGeom>
          <a:noFill/>
          <a:ln/>
        </p:spPr>
        <p:txBody>
          <a:bodyPr wrap="square" rtlCol="0" anchor="ctr"/>
          <a:lstStyle/>
          <a:p>
            <a:pPr indent="0" marL="0">
              <a:buNone/>
            </a:pPr>
            <a:r>
              <a:rPr lang="en-US" sz="1100" dirty="0">
                <a:solidFill>
                  <a:srgbClr val="D97706"/>
                </a:solidFill>
              </a:rPr>
              <a:t>KPI Alignment: 67/100</a:t>
            </a:r>
            <a:endParaRPr lang="en-US" sz="1100" dirty="0"/>
          </a:p>
        </p:txBody>
      </p:sp>
      <p:sp>
        <p:nvSpPr>
          <p:cNvPr id="14" name="Text 12"/>
          <p:cNvSpPr/>
          <p:nvPr/>
        </p:nvSpPr>
        <p:spPr>
          <a:xfrm>
            <a:off x="5943600" y="5074920"/>
            <a:ext cx="5486400" cy="320040"/>
          </a:xfrm>
          <a:prstGeom prst="rect">
            <a:avLst/>
          </a:prstGeom>
          <a:noFill/>
          <a:ln/>
        </p:spPr>
        <p:txBody>
          <a:bodyPr wrap="square" rtlCol="0" anchor="ctr"/>
          <a:lstStyle/>
          <a:p>
            <a:pPr indent="0" marL="0">
              <a:buNone/>
            </a:pPr>
            <a:r>
              <a:rPr lang="en-US" sz="1100" dirty="0">
                <a:solidFill>
                  <a:srgbClr val="DC2626"/>
                </a:solidFill>
              </a:rPr>
              <a:t>Track Record: 40/100</a:t>
            </a:r>
            <a:endParaRPr lang="en-US" sz="1100" dirty="0"/>
          </a:p>
        </p:txBody>
      </p:sp>
      <p:sp>
        <p:nvSpPr>
          <p:cNvPr id="15" name="Text 13"/>
          <p:cNvSpPr/>
          <p:nvPr/>
        </p:nvSpPr>
        <p:spPr>
          <a:xfrm rot="-2100000">
            <a:off x="914400" y="1371600"/>
            <a:ext cx="10058400" cy="3657600"/>
          </a:xfrm>
          <a:prstGeom prst="rect">
            <a:avLst/>
          </a:prstGeom>
          <a:noFill/>
          <a:ln/>
        </p:spPr>
        <p:txBody>
          <a:bodyPr wrap="square" rtlCol="0" anchor="ctr"/>
          <a:lstStyle/>
          <a:p>
            <a:pPr algn="ctr" indent="0" marL="0">
              <a:buNone/>
            </a:pPr>
            <a:r>
              <a:rPr lang="en-US" sz="6000" b="1" dirty="0">
                <a:solidFill>
                  <a:srgbClr val="CBD5E1">
                    <a:alpha val="25000"/>
                  </a:srgbClr>
                </a:solidFill>
              </a:rPr>
              <a:t>DRAFT</a:t>
            </a:r>
            <a:endParaRPr lang="en-US" sz="6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914400"/>
          </a:xfrm>
          <a:prstGeom prst="rect">
            <a:avLst/>
          </a:prstGeom>
          <a:solidFill>
            <a:srgbClr val="1D4ED8"/>
          </a:solidFill>
          <a:ln/>
        </p:spPr>
      </p:sp>
      <p:sp>
        <p:nvSpPr>
          <p:cNvPr id="3" name="Text 1"/>
          <p:cNvSpPr/>
          <p:nvPr/>
        </p:nvSpPr>
        <p:spPr>
          <a:xfrm>
            <a:off x="457200" y="137160"/>
            <a:ext cx="8229600" cy="640080"/>
          </a:xfrm>
          <a:prstGeom prst="rect">
            <a:avLst/>
          </a:prstGeom>
          <a:noFill/>
          <a:ln/>
        </p:spPr>
        <p:txBody>
          <a:bodyPr wrap="square" rtlCol="0" anchor="ctr"/>
          <a:lstStyle/>
          <a:p>
            <a:pPr indent="0" marL="0">
              <a:buNone/>
            </a:pPr>
            <a:r>
              <a:rPr lang="en-US" sz="2000" b="1" dirty="0">
                <a:solidFill>
                  <a:srgbClr val="FFFFFF"/>
                </a:solidFill>
              </a:rPr>
              <a:t>Women Entrepreneurship — Micro-Finance + Skill Training</a:t>
            </a:r>
            <a:endParaRPr lang="en-US" sz="2000" dirty="0"/>
          </a:p>
        </p:txBody>
      </p:sp>
      <p:sp>
        <p:nvSpPr>
          <p:cNvPr id="4" name="Text 2"/>
          <p:cNvSpPr/>
          <p:nvPr/>
        </p:nvSpPr>
        <p:spPr>
          <a:xfrm>
            <a:off x="8961120" y="182880"/>
            <a:ext cx="2560320" cy="548640"/>
          </a:xfrm>
          <a:prstGeom prst="rect">
            <a:avLst/>
          </a:prstGeom>
          <a:noFill/>
          <a:ln/>
        </p:spPr>
        <p:txBody>
          <a:bodyPr wrap="square" rtlCol="0" anchor="ctr"/>
          <a:lstStyle/>
          <a:p>
            <a:pPr algn="r" indent="0" marL="0">
              <a:buNone/>
            </a:pPr>
            <a:r>
              <a:rPr lang="en-US" sz="1500" b="1" dirty="0">
                <a:solidFill>
                  <a:srgbClr val="FFFFFF"/>
                </a:solidFill>
              </a:rPr>
              <a:t>Match Score: 36/100</a:t>
            </a:r>
            <a:endParaRPr lang="en-US" sz="1500" dirty="0"/>
          </a:p>
        </p:txBody>
      </p:sp>
      <p:sp>
        <p:nvSpPr>
          <p:cNvPr id="5" name="Text 3"/>
          <p:cNvSpPr/>
          <p:nvPr/>
        </p:nvSpPr>
        <p:spPr>
          <a:xfrm>
            <a:off x="457200" y="1097280"/>
            <a:ext cx="5486400" cy="320040"/>
          </a:xfrm>
          <a:prstGeom prst="rect">
            <a:avLst/>
          </a:prstGeom>
          <a:noFill/>
          <a:ln/>
        </p:spPr>
        <p:txBody>
          <a:bodyPr wrap="square" rtlCol="0" anchor="ctr"/>
          <a:lstStyle/>
          <a:p>
            <a:pPr indent="0" marL="0">
              <a:buNone/>
            </a:pPr>
            <a:r>
              <a:rPr lang="en-US" sz="1400" b="1" dirty="0">
                <a:solidFill>
                  <a:srgbClr val="1D4ED8"/>
                </a:solidFill>
              </a:rPr>
              <a:t>Initiative Overview</a:t>
            </a:r>
            <a:endParaRPr lang="en-US" sz="1400" dirty="0"/>
          </a:p>
        </p:txBody>
      </p:sp>
      <p:sp>
        <p:nvSpPr>
          <p:cNvPr id="6" name="Text 4"/>
          <p:cNvSpPr/>
          <p:nvPr/>
        </p:nvSpPr>
        <p:spPr>
          <a:xfrm>
            <a:off x="457200" y="1508760"/>
            <a:ext cx="5029200" cy="3200400"/>
          </a:xfrm>
          <a:prstGeom prst="rect">
            <a:avLst/>
          </a:prstGeom>
          <a:noFill/>
          <a:ln/>
        </p:spPr>
        <p:txBody>
          <a:bodyPr wrap="square" rtlCol="0" anchor="ctr"/>
          <a:lstStyle/>
          <a:p>
            <a:pPr indent="0" marL="0">
              <a:lnSpc>
                <a:spcPct val="140000"/>
              </a:lnSpc>
              <a:buNone/>
            </a:pPr>
            <a:r>
              <a:rPr lang="en-US" sz="1300" dirty="0">
                <a:solidFill>
                  <a:srgbClr val="1E293B"/>
                </a:solidFill>
              </a:rPr>
              <a:t>Sector: LIVELIHOOD</a:t>
            </a:r>
            <a:endParaRPr lang="en-US" sz="1300" dirty="0"/>
          </a:p>
          <a:p>
            <a:pPr indent="0" marL="0">
              <a:lnSpc>
                <a:spcPct val="140000"/>
              </a:lnSpc>
              <a:buNone/>
            </a:pPr>
            <a:r>
              <a:rPr lang="en-US" sz="1300" dirty="0">
                <a:solidFill>
                  <a:srgbClr val="1E293B"/>
                </a:solidFill>
              </a:rPr>
              <a:t>Geography: Rajasthan, Barmer</a:t>
            </a:r>
            <a:endParaRPr lang="en-US" sz="1300" dirty="0"/>
          </a:p>
          <a:p>
            <a:pPr indent="0" marL="0">
              <a:lnSpc>
                <a:spcPct val="140000"/>
              </a:lnSpc>
              <a:buNone/>
            </a:pPr>
            <a:r>
              <a:rPr lang="en-US" sz="1300" dirty="0">
                <a:solidFill>
                  <a:srgbClr val="1E293B"/>
                </a:solidFill>
              </a:rPr>
              <a:t>Target Beneficiaries: 200</a:t>
            </a:r>
            <a:endParaRPr lang="en-US" sz="1300" dirty="0"/>
          </a:p>
          <a:p>
            <a:pPr indent="0" marL="0">
              <a:lnSpc>
                <a:spcPct val="140000"/>
              </a:lnSpc>
              <a:buNone/>
            </a:pPr>
            <a:r>
              <a:rPr lang="en-US" sz="1300" dirty="0">
                <a:solidFill>
                  <a:srgbClr val="1E293B"/>
                </a:solidFill>
              </a:rPr>
              <a:t>Budget Required: ₹28.0L</a:t>
            </a:r>
            <a:endParaRPr lang="en-US" sz="1300" dirty="0"/>
          </a:p>
          <a:p>
            <a:pPr indent="0" marL="0">
              <a:lnSpc>
                <a:spcPct val="140000"/>
              </a:lnSpc>
              <a:buNone/>
            </a:pPr>
            <a:r>
              <a:rPr lang="en-US" sz="1300" dirty="0">
                <a:solidFill>
                  <a:srgbClr val="1E293B"/>
                </a:solidFill>
              </a:rPr>
              <a:t>Funding Gap: ₹28.0L</a:t>
            </a:r>
            <a:endParaRPr lang="en-US" sz="1300" dirty="0"/>
          </a:p>
          <a:p>
            <a:pPr indent="0" marL="0">
              <a:lnSpc>
                <a:spcPct val="140000"/>
              </a:lnSpc>
              <a:buNone/>
            </a:pPr>
            <a:r>
              <a:rPr lang="en-US" sz="1300" dirty="0">
                <a:solidFill>
                  <a:srgbClr val="1E293B"/>
                </a:solidFill>
              </a:rPr>
              <a:t>Milestones Completed: 0/0</a:t>
            </a:r>
            <a:endParaRPr lang="en-US" sz="1300" dirty="0"/>
          </a:p>
          <a:p>
            <a:pPr indent="0" marL="0">
              <a:lnSpc>
                <a:spcPct val="140000"/>
              </a:lnSpc>
              <a:buNone/>
            </a:pPr>
            <a:r>
              <a:rPr lang="en-US" sz="1300" dirty="0">
                <a:solidFill>
                  <a:srgbClr val="1E293B"/>
                </a:solidFill>
              </a:rPr>
              <a:t>SDG Tags: SDG1, SDG5, SDG8</a:t>
            </a:r>
            <a:endParaRPr lang="en-US" sz="1300" dirty="0"/>
          </a:p>
        </p:txBody>
      </p:sp>
      <p:sp>
        <p:nvSpPr>
          <p:cNvPr id="7" name="Text 5"/>
          <p:cNvSpPr/>
          <p:nvPr/>
        </p:nvSpPr>
        <p:spPr>
          <a:xfrm>
            <a:off x="5943600" y="1097280"/>
            <a:ext cx="5486400" cy="320040"/>
          </a:xfrm>
          <a:prstGeom prst="rect">
            <a:avLst/>
          </a:prstGeom>
          <a:noFill/>
          <a:ln/>
        </p:spPr>
        <p:txBody>
          <a:bodyPr wrap="square" rtlCol="0" anchor="ctr"/>
          <a:lstStyle/>
          <a:p>
            <a:pPr indent="0" marL="0">
              <a:buNone/>
            </a:pPr>
            <a:r>
              <a:rPr lang="en-US" sz="1400" b="1" dirty="0">
                <a:solidFill>
                  <a:srgbClr val="1D4ED8"/>
                </a:solidFill>
              </a:rPr>
              <a:t>Why This Match</a:t>
            </a:r>
            <a:endParaRPr lang="en-US" sz="1400" dirty="0"/>
          </a:p>
        </p:txBody>
      </p:sp>
      <p:sp>
        <p:nvSpPr>
          <p:cNvPr id="8" name="Text 6"/>
          <p:cNvSpPr/>
          <p:nvPr/>
        </p:nvSpPr>
        <p:spPr>
          <a:xfrm>
            <a:off x="5943600" y="1508760"/>
            <a:ext cx="5486400" cy="1645920"/>
          </a:xfrm>
          <a:prstGeom prst="rect">
            <a:avLst/>
          </a:prstGeom>
          <a:noFill/>
          <a:ln/>
        </p:spPr>
        <p:txBody>
          <a:bodyPr wrap="square" rtlCol="0" anchor="ctr"/>
          <a:lstStyle/>
          <a:p>
            <a:pPr indent="0" marL="0">
              <a:lnSpc>
                <a:spcPct val="150000"/>
              </a:lnSpc>
              <a:buNone/>
            </a:pPr>
            <a:r>
              <a:rPr lang="en-US" sz="1300" dirty="0">
                <a:solidFill>
                  <a:srgbClr val="1E293B"/>
                </a:solidFill>
              </a:rPr>
              <a:t>This initiative does not match the donor requirement as it scores 0/100 in the HEALTHCARE sector, failing to address the specified domain despite meeting the budget (100/100) and geography (30/100) criteria for Tamil Nadu.</a:t>
            </a:r>
            <a:endParaRPr lang="en-US" sz="1300" dirty="0"/>
          </a:p>
        </p:txBody>
      </p:sp>
      <p:sp>
        <p:nvSpPr>
          <p:cNvPr id="9" name="Text 7"/>
          <p:cNvSpPr/>
          <p:nvPr/>
        </p:nvSpPr>
        <p:spPr>
          <a:xfrm>
            <a:off x="5943600" y="3291840"/>
            <a:ext cx="5486400" cy="274320"/>
          </a:xfrm>
          <a:prstGeom prst="rect">
            <a:avLst/>
          </a:prstGeom>
          <a:noFill/>
          <a:ln/>
        </p:spPr>
        <p:txBody>
          <a:bodyPr wrap="square" rtlCol="0" anchor="ctr"/>
          <a:lstStyle/>
          <a:p>
            <a:pPr indent="0" marL="0">
              <a:buNone/>
            </a:pPr>
            <a:r>
              <a:rPr lang="en-US" sz="1100" b="1" dirty="0">
                <a:solidFill>
                  <a:srgbClr val="64748B"/>
                </a:solidFill>
              </a:rPr>
              <a:t>Score Breakdown</a:t>
            </a:r>
            <a:endParaRPr lang="en-US" sz="1100" dirty="0"/>
          </a:p>
        </p:txBody>
      </p:sp>
      <p:sp>
        <p:nvSpPr>
          <p:cNvPr id="10" name="Text 8"/>
          <p:cNvSpPr/>
          <p:nvPr/>
        </p:nvSpPr>
        <p:spPr>
          <a:xfrm>
            <a:off x="5943600" y="3611880"/>
            <a:ext cx="5486400" cy="320040"/>
          </a:xfrm>
          <a:prstGeom prst="rect">
            <a:avLst/>
          </a:prstGeom>
          <a:noFill/>
          <a:ln/>
        </p:spPr>
        <p:txBody>
          <a:bodyPr wrap="square" rtlCol="0" anchor="ctr"/>
          <a:lstStyle/>
          <a:p>
            <a:pPr indent="0" marL="0">
              <a:buNone/>
            </a:pPr>
            <a:r>
              <a:rPr lang="en-US" sz="1100" dirty="0">
                <a:solidFill>
                  <a:srgbClr val="DC2626"/>
                </a:solidFill>
              </a:rPr>
              <a:t>Sector Alignment: 0/100</a:t>
            </a:r>
            <a:endParaRPr lang="en-US" sz="1100" dirty="0"/>
          </a:p>
        </p:txBody>
      </p:sp>
      <p:sp>
        <p:nvSpPr>
          <p:cNvPr id="11" name="Text 9"/>
          <p:cNvSpPr/>
          <p:nvPr/>
        </p:nvSpPr>
        <p:spPr>
          <a:xfrm>
            <a:off x="5943600" y="3977640"/>
            <a:ext cx="5486400" cy="320040"/>
          </a:xfrm>
          <a:prstGeom prst="rect">
            <a:avLst/>
          </a:prstGeom>
          <a:noFill/>
          <a:ln/>
        </p:spPr>
        <p:txBody>
          <a:bodyPr wrap="square" rtlCol="0" anchor="ctr"/>
          <a:lstStyle/>
          <a:p>
            <a:pPr indent="0" marL="0">
              <a:buNone/>
            </a:pPr>
            <a:r>
              <a:rPr lang="en-US" sz="1100" dirty="0">
                <a:solidFill>
                  <a:srgbClr val="DC2626"/>
                </a:solidFill>
              </a:rPr>
              <a:t>Geography Match: 30/100</a:t>
            </a:r>
            <a:endParaRPr lang="en-US" sz="1100" dirty="0"/>
          </a:p>
        </p:txBody>
      </p:sp>
      <p:sp>
        <p:nvSpPr>
          <p:cNvPr id="12" name="Text 10"/>
          <p:cNvSpPr/>
          <p:nvPr/>
        </p:nvSpPr>
        <p:spPr>
          <a:xfrm>
            <a:off x="5943600" y="4343400"/>
            <a:ext cx="5486400" cy="320040"/>
          </a:xfrm>
          <a:prstGeom prst="rect">
            <a:avLst/>
          </a:prstGeom>
          <a:noFill/>
          <a:ln/>
        </p:spPr>
        <p:txBody>
          <a:bodyPr wrap="square" rtlCol="0" anchor="ctr"/>
          <a:lstStyle/>
          <a:p>
            <a:pPr indent="0" marL="0">
              <a:buNone/>
            </a:pPr>
            <a:r>
              <a:rPr lang="en-US" sz="1100" dirty="0">
                <a:solidFill>
                  <a:srgbClr val="059669"/>
                </a:solidFill>
              </a:rPr>
              <a:t>Budget Fit: 100/100</a:t>
            </a:r>
            <a:endParaRPr lang="en-US" sz="1100" dirty="0"/>
          </a:p>
        </p:txBody>
      </p:sp>
      <p:sp>
        <p:nvSpPr>
          <p:cNvPr id="13" name="Text 11"/>
          <p:cNvSpPr/>
          <p:nvPr/>
        </p:nvSpPr>
        <p:spPr>
          <a:xfrm>
            <a:off x="5943600" y="4709160"/>
            <a:ext cx="5486400" cy="320040"/>
          </a:xfrm>
          <a:prstGeom prst="rect">
            <a:avLst/>
          </a:prstGeom>
          <a:noFill/>
          <a:ln/>
        </p:spPr>
        <p:txBody>
          <a:bodyPr wrap="square" rtlCol="0" anchor="ctr"/>
          <a:lstStyle/>
          <a:p>
            <a:pPr indent="0" marL="0">
              <a:buNone/>
            </a:pPr>
            <a:r>
              <a:rPr lang="en-US" sz="1100" dirty="0">
                <a:solidFill>
                  <a:srgbClr val="DC2626"/>
                </a:solidFill>
              </a:rPr>
              <a:t>KPI Alignment: 33/100</a:t>
            </a:r>
            <a:endParaRPr lang="en-US" sz="1100" dirty="0"/>
          </a:p>
        </p:txBody>
      </p:sp>
      <p:sp>
        <p:nvSpPr>
          <p:cNvPr id="14" name="Text 12"/>
          <p:cNvSpPr/>
          <p:nvPr/>
        </p:nvSpPr>
        <p:spPr>
          <a:xfrm>
            <a:off x="5943600" y="5074920"/>
            <a:ext cx="5486400" cy="320040"/>
          </a:xfrm>
          <a:prstGeom prst="rect">
            <a:avLst/>
          </a:prstGeom>
          <a:noFill/>
          <a:ln/>
        </p:spPr>
        <p:txBody>
          <a:bodyPr wrap="square" rtlCol="0" anchor="ctr"/>
          <a:lstStyle/>
          <a:p>
            <a:pPr indent="0" marL="0">
              <a:buNone/>
            </a:pPr>
            <a:r>
              <a:rPr lang="en-US" sz="1100" dirty="0">
                <a:solidFill>
                  <a:srgbClr val="DC2626"/>
                </a:solidFill>
              </a:rPr>
              <a:t>Track Record: 40/100</a:t>
            </a:r>
            <a:endParaRPr lang="en-US" sz="1100" dirty="0"/>
          </a:p>
        </p:txBody>
      </p:sp>
      <p:sp>
        <p:nvSpPr>
          <p:cNvPr id="15" name="Text 13"/>
          <p:cNvSpPr/>
          <p:nvPr/>
        </p:nvSpPr>
        <p:spPr>
          <a:xfrm rot="-2100000">
            <a:off x="914400" y="1371600"/>
            <a:ext cx="10058400" cy="3657600"/>
          </a:xfrm>
          <a:prstGeom prst="rect">
            <a:avLst/>
          </a:prstGeom>
          <a:noFill/>
          <a:ln/>
        </p:spPr>
        <p:txBody>
          <a:bodyPr wrap="square" rtlCol="0" anchor="ctr"/>
          <a:lstStyle/>
          <a:p>
            <a:pPr algn="ctr" indent="0" marL="0">
              <a:buNone/>
            </a:pPr>
            <a:r>
              <a:rPr lang="en-US" sz="6000" b="1" dirty="0">
                <a:solidFill>
                  <a:srgbClr val="CBD5E1">
                    <a:alpha val="25000"/>
                  </a:srgbClr>
                </a:solidFill>
              </a:rPr>
              <a:t>DRAFT</a:t>
            </a:r>
            <a:endParaRPr lang="en-US" sz="6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914400"/>
          </a:xfrm>
          <a:prstGeom prst="rect">
            <a:avLst/>
          </a:prstGeom>
          <a:solidFill>
            <a:srgbClr val="1D4ED8"/>
          </a:solidFill>
          <a:ln/>
        </p:spPr>
      </p:sp>
      <p:sp>
        <p:nvSpPr>
          <p:cNvPr id="3" name="Text 1"/>
          <p:cNvSpPr/>
          <p:nvPr/>
        </p:nvSpPr>
        <p:spPr>
          <a:xfrm>
            <a:off x="457200" y="137160"/>
            <a:ext cx="8229600" cy="640080"/>
          </a:xfrm>
          <a:prstGeom prst="rect">
            <a:avLst/>
          </a:prstGeom>
          <a:noFill/>
          <a:ln/>
        </p:spPr>
        <p:txBody>
          <a:bodyPr wrap="square" rtlCol="0" anchor="ctr"/>
          <a:lstStyle/>
          <a:p>
            <a:pPr indent="0" marL="0">
              <a:buNone/>
            </a:pPr>
            <a:r>
              <a:rPr lang="en-US" sz="2000" b="1" dirty="0">
                <a:solidFill>
                  <a:srgbClr val="FFFFFF"/>
                </a:solidFill>
              </a:rPr>
              <a:t>Rainwater Harvesting — 50 Villages in Bundelkhand</a:t>
            </a:r>
            <a:endParaRPr lang="en-US" sz="2000" dirty="0"/>
          </a:p>
        </p:txBody>
      </p:sp>
      <p:sp>
        <p:nvSpPr>
          <p:cNvPr id="4" name="Text 2"/>
          <p:cNvSpPr/>
          <p:nvPr/>
        </p:nvSpPr>
        <p:spPr>
          <a:xfrm>
            <a:off x="8961120" y="182880"/>
            <a:ext cx="2560320" cy="548640"/>
          </a:xfrm>
          <a:prstGeom prst="rect">
            <a:avLst/>
          </a:prstGeom>
          <a:noFill/>
          <a:ln/>
        </p:spPr>
        <p:txBody>
          <a:bodyPr wrap="square" rtlCol="0" anchor="ctr"/>
          <a:lstStyle/>
          <a:p>
            <a:pPr algn="r" indent="0" marL="0">
              <a:buNone/>
            </a:pPr>
            <a:r>
              <a:rPr lang="en-US" sz="1500" b="1" dirty="0">
                <a:solidFill>
                  <a:srgbClr val="FFFFFF"/>
                </a:solidFill>
              </a:rPr>
              <a:t>Match Score: 27/100</a:t>
            </a:r>
            <a:endParaRPr lang="en-US" sz="1500" dirty="0"/>
          </a:p>
        </p:txBody>
      </p:sp>
      <p:sp>
        <p:nvSpPr>
          <p:cNvPr id="5" name="Text 3"/>
          <p:cNvSpPr/>
          <p:nvPr/>
        </p:nvSpPr>
        <p:spPr>
          <a:xfrm>
            <a:off x="457200" y="1097280"/>
            <a:ext cx="5486400" cy="320040"/>
          </a:xfrm>
          <a:prstGeom prst="rect">
            <a:avLst/>
          </a:prstGeom>
          <a:noFill/>
          <a:ln/>
        </p:spPr>
        <p:txBody>
          <a:bodyPr wrap="square" rtlCol="0" anchor="ctr"/>
          <a:lstStyle/>
          <a:p>
            <a:pPr indent="0" marL="0">
              <a:buNone/>
            </a:pPr>
            <a:r>
              <a:rPr lang="en-US" sz="1400" b="1" dirty="0">
                <a:solidFill>
                  <a:srgbClr val="1D4ED8"/>
                </a:solidFill>
              </a:rPr>
              <a:t>Initiative Overview</a:t>
            </a:r>
            <a:endParaRPr lang="en-US" sz="1400" dirty="0"/>
          </a:p>
        </p:txBody>
      </p:sp>
      <p:sp>
        <p:nvSpPr>
          <p:cNvPr id="6" name="Text 4"/>
          <p:cNvSpPr/>
          <p:nvPr/>
        </p:nvSpPr>
        <p:spPr>
          <a:xfrm>
            <a:off x="457200" y="1508760"/>
            <a:ext cx="5029200" cy="3200400"/>
          </a:xfrm>
          <a:prstGeom prst="rect">
            <a:avLst/>
          </a:prstGeom>
          <a:noFill/>
          <a:ln/>
        </p:spPr>
        <p:txBody>
          <a:bodyPr wrap="square" rtlCol="0" anchor="ctr"/>
          <a:lstStyle/>
          <a:p>
            <a:pPr indent="0" marL="0">
              <a:lnSpc>
                <a:spcPct val="140000"/>
              </a:lnSpc>
              <a:buNone/>
            </a:pPr>
            <a:r>
              <a:rPr lang="en-US" sz="1300" dirty="0">
                <a:solidFill>
                  <a:srgbClr val="1E293B"/>
                </a:solidFill>
              </a:rPr>
              <a:t>Sector: WATER_SANITATION</a:t>
            </a:r>
            <a:endParaRPr lang="en-US" sz="1300" dirty="0"/>
          </a:p>
          <a:p>
            <a:pPr indent="0" marL="0">
              <a:lnSpc>
                <a:spcPct val="140000"/>
              </a:lnSpc>
              <a:buNone/>
            </a:pPr>
            <a:r>
              <a:rPr lang="en-US" sz="1300" dirty="0">
                <a:solidFill>
                  <a:srgbClr val="1E293B"/>
                </a:solidFill>
              </a:rPr>
              <a:t>Geography: Madhya Pradesh, Sagar</a:t>
            </a:r>
            <a:endParaRPr lang="en-US" sz="1300" dirty="0"/>
          </a:p>
          <a:p>
            <a:pPr indent="0" marL="0">
              <a:lnSpc>
                <a:spcPct val="140000"/>
              </a:lnSpc>
              <a:buNone/>
            </a:pPr>
            <a:r>
              <a:rPr lang="en-US" sz="1300" dirty="0">
                <a:solidFill>
                  <a:srgbClr val="1E293B"/>
                </a:solidFill>
              </a:rPr>
              <a:t>Target Beneficiaries: 8,000</a:t>
            </a:r>
            <a:endParaRPr lang="en-US" sz="1300" dirty="0"/>
          </a:p>
          <a:p>
            <a:pPr indent="0" marL="0">
              <a:lnSpc>
                <a:spcPct val="140000"/>
              </a:lnSpc>
              <a:buNone/>
            </a:pPr>
            <a:r>
              <a:rPr lang="en-US" sz="1300" dirty="0">
                <a:solidFill>
                  <a:srgbClr val="1E293B"/>
                </a:solidFill>
              </a:rPr>
              <a:t>Budget Required: ₹32.0L</a:t>
            </a:r>
            <a:endParaRPr lang="en-US" sz="1300" dirty="0"/>
          </a:p>
          <a:p>
            <a:pPr indent="0" marL="0">
              <a:lnSpc>
                <a:spcPct val="140000"/>
              </a:lnSpc>
              <a:buNone/>
            </a:pPr>
            <a:r>
              <a:rPr lang="en-US" sz="1300" dirty="0">
                <a:solidFill>
                  <a:srgbClr val="1E293B"/>
                </a:solidFill>
              </a:rPr>
              <a:t>Funding Gap: ₹32.0L</a:t>
            </a:r>
            <a:endParaRPr lang="en-US" sz="1300" dirty="0"/>
          </a:p>
          <a:p>
            <a:pPr indent="0" marL="0">
              <a:lnSpc>
                <a:spcPct val="140000"/>
              </a:lnSpc>
              <a:buNone/>
            </a:pPr>
            <a:r>
              <a:rPr lang="en-US" sz="1300" dirty="0">
                <a:solidFill>
                  <a:srgbClr val="1E293B"/>
                </a:solidFill>
              </a:rPr>
              <a:t>Milestones Completed: 0/0</a:t>
            </a:r>
            <a:endParaRPr lang="en-US" sz="1300" dirty="0"/>
          </a:p>
          <a:p>
            <a:pPr indent="0" marL="0">
              <a:lnSpc>
                <a:spcPct val="140000"/>
              </a:lnSpc>
              <a:buNone/>
            </a:pPr>
            <a:r>
              <a:rPr lang="en-US" sz="1300" dirty="0">
                <a:solidFill>
                  <a:srgbClr val="1E293B"/>
                </a:solidFill>
              </a:rPr>
              <a:t>SDG Tags: SDG6, SDG13</a:t>
            </a:r>
            <a:endParaRPr lang="en-US" sz="1300" dirty="0"/>
          </a:p>
        </p:txBody>
      </p:sp>
      <p:sp>
        <p:nvSpPr>
          <p:cNvPr id="7" name="Text 5"/>
          <p:cNvSpPr/>
          <p:nvPr/>
        </p:nvSpPr>
        <p:spPr>
          <a:xfrm>
            <a:off x="5943600" y="1097280"/>
            <a:ext cx="5486400" cy="320040"/>
          </a:xfrm>
          <a:prstGeom prst="rect">
            <a:avLst/>
          </a:prstGeom>
          <a:noFill/>
          <a:ln/>
        </p:spPr>
        <p:txBody>
          <a:bodyPr wrap="square" rtlCol="0" anchor="ctr"/>
          <a:lstStyle/>
          <a:p>
            <a:pPr indent="0" marL="0">
              <a:buNone/>
            </a:pPr>
            <a:r>
              <a:rPr lang="en-US" sz="1400" b="1" dirty="0">
                <a:solidFill>
                  <a:srgbClr val="1D4ED8"/>
                </a:solidFill>
              </a:rPr>
              <a:t>Why This Match</a:t>
            </a:r>
            <a:endParaRPr lang="en-US" sz="1400" dirty="0"/>
          </a:p>
        </p:txBody>
      </p:sp>
      <p:sp>
        <p:nvSpPr>
          <p:cNvPr id="8" name="Text 6"/>
          <p:cNvSpPr/>
          <p:nvPr/>
        </p:nvSpPr>
        <p:spPr>
          <a:xfrm>
            <a:off x="5943600" y="1508760"/>
            <a:ext cx="5486400" cy="1645920"/>
          </a:xfrm>
          <a:prstGeom prst="rect">
            <a:avLst/>
          </a:prstGeom>
          <a:noFill/>
          <a:ln/>
        </p:spPr>
        <p:txBody>
          <a:bodyPr wrap="square" rtlCol="0" anchor="ctr"/>
          <a:lstStyle/>
          <a:p>
            <a:pPr indent="0" marL="0">
              <a:lnSpc>
                <a:spcPct val="150000"/>
              </a:lnSpc>
              <a:buNone/>
            </a:pPr>
            <a:r>
              <a:rPr lang="en-US" sz="1300" dirty="0">
                <a:solidFill>
                  <a:srgbClr val="1E293B"/>
                </a:solidFill>
              </a:rPr>
              <a:t>This initiative does not match the donor requirement because it operates in the Bundelkhand region, not Tamil Nadu, and its focus is on water harvesting, not the HEALTHCARE sector. While the budget of Rs. 25.0L falls within the specified range, the geographic location and sector misalignment render it unsuitable.</a:t>
            </a:r>
            <a:endParaRPr lang="en-US" sz="1300" dirty="0"/>
          </a:p>
        </p:txBody>
      </p:sp>
      <p:sp>
        <p:nvSpPr>
          <p:cNvPr id="9" name="Text 7"/>
          <p:cNvSpPr/>
          <p:nvPr/>
        </p:nvSpPr>
        <p:spPr>
          <a:xfrm>
            <a:off x="5943600" y="3291840"/>
            <a:ext cx="5486400" cy="274320"/>
          </a:xfrm>
          <a:prstGeom prst="rect">
            <a:avLst/>
          </a:prstGeom>
          <a:noFill/>
          <a:ln/>
        </p:spPr>
        <p:txBody>
          <a:bodyPr wrap="square" rtlCol="0" anchor="ctr"/>
          <a:lstStyle/>
          <a:p>
            <a:pPr indent="0" marL="0">
              <a:buNone/>
            </a:pPr>
            <a:r>
              <a:rPr lang="en-US" sz="1100" b="1" dirty="0">
                <a:solidFill>
                  <a:srgbClr val="64748B"/>
                </a:solidFill>
              </a:rPr>
              <a:t>Score Breakdown</a:t>
            </a:r>
            <a:endParaRPr lang="en-US" sz="1100" dirty="0"/>
          </a:p>
        </p:txBody>
      </p:sp>
      <p:sp>
        <p:nvSpPr>
          <p:cNvPr id="10" name="Text 8"/>
          <p:cNvSpPr/>
          <p:nvPr/>
        </p:nvSpPr>
        <p:spPr>
          <a:xfrm>
            <a:off x="5943600" y="3611880"/>
            <a:ext cx="5486400" cy="320040"/>
          </a:xfrm>
          <a:prstGeom prst="rect">
            <a:avLst/>
          </a:prstGeom>
          <a:noFill/>
          <a:ln/>
        </p:spPr>
        <p:txBody>
          <a:bodyPr wrap="square" rtlCol="0" anchor="ctr"/>
          <a:lstStyle/>
          <a:p>
            <a:pPr indent="0" marL="0">
              <a:buNone/>
            </a:pPr>
            <a:r>
              <a:rPr lang="en-US" sz="1100" dirty="0">
                <a:solidFill>
                  <a:srgbClr val="DC2626"/>
                </a:solidFill>
              </a:rPr>
              <a:t>Sector Alignment: 0/100</a:t>
            </a:r>
            <a:endParaRPr lang="en-US" sz="1100" dirty="0"/>
          </a:p>
        </p:txBody>
      </p:sp>
      <p:sp>
        <p:nvSpPr>
          <p:cNvPr id="11" name="Text 9"/>
          <p:cNvSpPr/>
          <p:nvPr/>
        </p:nvSpPr>
        <p:spPr>
          <a:xfrm>
            <a:off x="5943600" y="3977640"/>
            <a:ext cx="5486400" cy="320040"/>
          </a:xfrm>
          <a:prstGeom prst="rect">
            <a:avLst/>
          </a:prstGeom>
          <a:noFill/>
          <a:ln/>
        </p:spPr>
        <p:txBody>
          <a:bodyPr wrap="square" rtlCol="0" anchor="ctr"/>
          <a:lstStyle/>
          <a:p>
            <a:pPr indent="0" marL="0">
              <a:buNone/>
            </a:pPr>
            <a:r>
              <a:rPr lang="en-US" sz="1100" dirty="0">
                <a:solidFill>
                  <a:srgbClr val="DC2626"/>
                </a:solidFill>
              </a:rPr>
              <a:t>Geography Match: 30/100</a:t>
            </a:r>
            <a:endParaRPr lang="en-US" sz="1100" dirty="0"/>
          </a:p>
        </p:txBody>
      </p:sp>
      <p:sp>
        <p:nvSpPr>
          <p:cNvPr id="12" name="Text 10"/>
          <p:cNvSpPr/>
          <p:nvPr/>
        </p:nvSpPr>
        <p:spPr>
          <a:xfrm>
            <a:off x="5943600" y="4343400"/>
            <a:ext cx="5486400" cy="320040"/>
          </a:xfrm>
          <a:prstGeom prst="rect">
            <a:avLst/>
          </a:prstGeom>
          <a:noFill/>
          <a:ln/>
        </p:spPr>
        <p:txBody>
          <a:bodyPr wrap="square" rtlCol="0" anchor="ctr"/>
          <a:lstStyle/>
          <a:p>
            <a:pPr indent="0" marL="0">
              <a:buNone/>
            </a:pPr>
            <a:r>
              <a:rPr lang="en-US" sz="1100" dirty="0">
                <a:solidFill>
                  <a:srgbClr val="059669"/>
                </a:solidFill>
              </a:rPr>
              <a:t>Budget Fit: 75/100</a:t>
            </a:r>
            <a:endParaRPr lang="en-US" sz="1100" dirty="0"/>
          </a:p>
        </p:txBody>
      </p:sp>
      <p:sp>
        <p:nvSpPr>
          <p:cNvPr id="13" name="Text 11"/>
          <p:cNvSpPr/>
          <p:nvPr/>
        </p:nvSpPr>
        <p:spPr>
          <a:xfrm>
            <a:off x="5943600" y="4709160"/>
            <a:ext cx="5486400" cy="320040"/>
          </a:xfrm>
          <a:prstGeom prst="rect">
            <a:avLst/>
          </a:prstGeom>
          <a:noFill/>
          <a:ln/>
        </p:spPr>
        <p:txBody>
          <a:bodyPr wrap="square" rtlCol="0" anchor="ctr"/>
          <a:lstStyle/>
          <a:p>
            <a:pPr indent="0" marL="0">
              <a:buNone/>
            </a:pPr>
            <a:r>
              <a:rPr lang="en-US" sz="1100" dirty="0">
                <a:solidFill>
                  <a:srgbClr val="DC2626"/>
                </a:solidFill>
              </a:rPr>
              <a:t>KPI Alignment: 0/100</a:t>
            </a:r>
            <a:endParaRPr lang="en-US" sz="1100" dirty="0"/>
          </a:p>
        </p:txBody>
      </p:sp>
      <p:sp>
        <p:nvSpPr>
          <p:cNvPr id="14" name="Text 12"/>
          <p:cNvSpPr/>
          <p:nvPr/>
        </p:nvSpPr>
        <p:spPr>
          <a:xfrm>
            <a:off x="5943600" y="5074920"/>
            <a:ext cx="5486400" cy="320040"/>
          </a:xfrm>
          <a:prstGeom prst="rect">
            <a:avLst/>
          </a:prstGeom>
          <a:noFill/>
          <a:ln/>
        </p:spPr>
        <p:txBody>
          <a:bodyPr wrap="square" rtlCol="0" anchor="ctr"/>
          <a:lstStyle/>
          <a:p>
            <a:pPr indent="0" marL="0">
              <a:buNone/>
            </a:pPr>
            <a:r>
              <a:rPr lang="en-US" sz="1100" dirty="0">
                <a:solidFill>
                  <a:srgbClr val="DC2626"/>
                </a:solidFill>
              </a:rPr>
              <a:t>Track Record: 40/100</a:t>
            </a:r>
            <a:endParaRPr lang="en-US" sz="1100" dirty="0"/>
          </a:p>
        </p:txBody>
      </p:sp>
      <p:sp>
        <p:nvSpPr>
          <p:cNvPr id="15" name="Text 13"/>
          <p:cNvSpPr/>
          <p:nvPr/>
        </p:nvSpPr>
        <p:spPr>
          <a:xfrm rot="-2100000">
            <a:off x="914400" y="1371600"/>
            <a:ext cx="10058400" cy="3657600"/>
          </a:xfrm>
          <a:prstGeom prst="rect">
            <a:avLst/>
          </a:prstGeom>
          <a:noFill/>
          <a:ln/>
        </p:spPr>
        <p:txBody>
          <a:bodyPr wrap="square" rtlCol="0" anchor="ctr"/>
          <a:lstStyle/>
          <a:p>
            <a:pPr algn="ctr" indent="0" marL="0">
              <a:buNone/>
            </a:pPr>
            <a:r>
              <a:rPr lang="en-US" sz="6000" b="1" dirty="0">
                <a:solidFill>
                  <a:srgbClr val="CBD5E1">
                    <a:alpha val="25000"/>
                  </a:srgbClr>
                </a:solidFill>
              </a:rPr>
              <a:t>DRAFT</a:t>
            </a:r>
            <a:endParaRPr lang="en-US" sz="6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5F9"/>
        </a:solidFill>
      </p:bgPr>
    </p:bg>
    <p:spTree>
      <p:nvGrpSpPr>
        <p:cNvPr id="1" name=""/>
        <p:cNvGrpSpPr/>
        <p:nvPr/>
      </p:nvGrpSpPr>
      <p:grpSpPr>
        <a:xfrm>
          <a:off x="0" y="0"/>
          <a:ext cx="0" cy="0"/>
          <a:chOff x="0" y="0"/>
          <a:chExt cx="0" cy="0"/>
        </a:xfrm>
      </p:grpSpPr>
      <p:sp>
        <p:nvSpPr>
          <p:cNvPr id="2" name="Text 0"/>
          <p:cNvSpPr/>
          <p:nvPr/>
        </p:nvSpPr>
        <p:spPr>
          <a:xfrm>
            <a:off x="457200" y="457200"/>
            <a:ext cx="10972800" cy="640080"/>
          </a:xfrm>
          <a:prstGeom prst="rect">
            <a:avLst/>
          </a:prstGeom>
          <a:noFill/>
          <a:ln/>
        </p:spPr>
        <p:txBody>
          <a:bodyPr wrap="square" rtlCol="0" anchor="ctr"/>
          <a:lstStyle/>
          <a:p>
            <a:pPr algn="ctr" indent="0" marL="0">
              <a:buNone/>
            </a:pPr>
            <a:r>
              <a:rPr lang="en-US" sz="2000" b="1" dirty="0">
                <a:solidFill>
                  <a:srgbClr val="1E293B"/>
                </a:solidFill>
              </a:rPr>
              <a:t>Next Steps</a:t>
            </a:r>
            <a:endParaRPr lang="en-US" sz="2000" dirty="0"/>
          </a:p>
        </p:txBody>
      </p:sp>
      <p:sp>
        <p:nvSpPr>
          <p:cNvPr id="3" name="Text 1"/>
          <p:cNvSpPr/>
          <p:nvPr/>
        </p:nvSpPr>
        <p:spPr>
          <a:xfrm>
            <a:off x="1371600" y="1371600"/>
            <a:ext cx="9144000" cy="4114800"/>
          </a:xfrm>
          <a:prstGeom prst="rect">
            <a:avLst/>
          </a:prstGeom>
          <a:noFill/>
          <a:ln/>
        </p:spPr>
        <p:txBody>
          <a:bodyPr wrap="square" rtlCol="0" anchor="ctr"/>
          <a:lstStyle/>
          <a:p>
            <a:pPr indent="0" marL="0">
              <a:lnSpc>
                <a:spcPct val="180000"/>
              </a:lnSpc>
              <a:buNone/>
            </a:pPr>
            <a:r>
              <a:rPr lang="en-US" sz="1400" dirty="0">
                <a:solidFill>
                  <a:srgbClr val="1E293B"/>
                </a:solidFill>
              </a:rPr>
              <a:t>1.  Review proposed initiatives and shortlist preferred partners</a:t>
            </a:r>
            <a:endParaRPr lang="en-US" sz="1400" dirty="0"/>
          </a:p>
          <a:p>
            <a:pPr indent="0" marL="0">
              <a:lnSpc>
                <a:spcPct val="180000"/>
              </a:lnSpc>
              <a:buNone/>
            </a:pPr>
            <a:endParaRPr lang="en-US" sz="1400" dirty="0"/>
          </a:p>
          <a:p>
            <a:pPr indent="0" marL="0">
              <a:lnSpc>
                <a:spcPct val="180000"/>
              </a:lnSpc>
              <a:buNone/>
            </a:pPr>
            <a:r>
              <a:rPr lang="en-US" sz="1400" dirty="0">
                <a:solidFill>
                  <a:srgbClr val="1E293B"/>
                </a:solidFill>
              </a:rPr>
              <a:t>2.  Schedule site visits to verify ground operations</a:t>
            </a:r>
            <a:endParaRPr lang="en-US" sz="1400" dirty="0"/>
          </a:p>
          <a:p>
            <a:pPr indent="0" marL="0">
              <a:lnSpc>
                <a:spcPct val="180000"/>
              </a:lnSpc>
              <a:buNone/>
            </a:pPr>
            <a:endParaRPr lang="en-US" sz="1400" dirty="0"/>
          </a:p>
          <a:p>
            <a:pPr indent="0" marL="0">
              <a:lnSpc>
                <a:spcPct val="180000"/>
              </a:lnSpc>
              <a:buNone/>
            </a:pPr>
            <a:r>
              <a:rPr lang="en-US" sz="1400" dirty="0">
                <a:solidFill>
                  <a:srgbClr val="1E293B"/>
                </a:solidFill>
              </a:rPr>
              <a:t>3.  Execute CSR partnership agreement and disbursement schedule</a:t>
            </a:r>
            <a:endParaRPr lang="en-US" sz="1400" dirty="0"/>
          </a:p>
          <a:p>
            <a:pPr indent="0" marL="0">
              <a:lnSpc>
                <a:spcPct val="180000"/>
              </a:lnSpc>
              <a:buNone/>
            </a:pPr>
            <a:endParaRPr lang="en-US" sz="1400" dirty="0"/>
          </a:p>
          <a:p>
            <a:pPr indent="0" marL="0">
              <a:lnSpc>
                <a:spcPct val="180000"/>
              </a:lnSpc>
              <a:buNone/>
            </a:pPr>
            <a:r>
              <a:rPr lang="en-US" sz="1400" dirty="0">
                <a:solidFill>
                  <a:srgbClr val="1E293B"/>
                </a:solidFill>
              </a:rPr>
              <a:t>4.  Receive quarterly progress reports and verified evidence</a:t>
            </a:r>
            <a:endParaRPr lang="en-US" sz="1400" dirty="0"/>
          </a:p>
          <a:p>
            <a:pPr indent="0" marL="0">
              <a:lnSpc>
                <a:spcPct val="180000"/>
              </a:lnSpc>
              <a:buNone/>
            </a:pPr>
            <a:endParaRPr lang="en-US" sz="1400" dirty="0"/>
          </a:p>
          <a:p>
            <a:pPr indent="0" marL="0">
              <a:lnSpc>
                <a:spcPct val="180000"/>
              </a:lnSpc>
              <a:buNone/>
            </a:pPr>
            <a:r>
              <a:rPr lang="en-US" sz="1400" dirty="0">
                <a:solidFill>
                  <a:srgbClr val="1E293B"/>
                </a:solidFill>
              </a:rPr>
              <a:t>5.  Review impact outcomes at milestone completion</a:t>
            </a:r>
            <a:endParaRPr lang="en-US" sz="1400" dirty="0"/>
          </a:p>
        </p:txBody>
      </p:sp>
      <p:sp>
        <p:nvSpPr>
          <p:cNvPr id="4" name="Text 2"/>
          <p:cNvSpPr/>
          <p:nvPr/>
        </p:nvSpPr>
        <p:spPr>
          <a:xfrm rot="-2100000">
            <a:off x="914400" y="1371600"/>
            <a:ext cx="10058400" cy="3657600"/>
          </a:xfrm>
          <a:prstGeom prst="rect">
            <a:avLst/>
          </a:prstGeom>
          <a:noFill/>
          <a:ln/>
        </p:spPr>
        <p:txBody>
          <a:bodyPr wrap="square" rtlCol="0" anchor="ctr"/>
          <a:lstStyle/>
          <a:p>
            <a:pPr algn="ctr" indent="0" marL="0">
              <a:buNone/>
            </a:pPr>
            <a:r>
              <a:rPr lang="en-US" sz="6000" b="1" dirty="0">
                <a:solidFill>
                  <a:srgbClr val="CBD5E1">
                    <a:alpha val="25000"/>
                  </a:srgbClr>
                </a:solidFill>
              </a:rPr>
              <a:t>DRAFT</a:t>
            </a:r>
            <a:endParaRPr lang="en-US" sz="6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Impact Partnership Proposal — Tata Consultancy Services</dc:subject>
  <dc:creator>NGO Impact Platform</dc:creator>
  <cp:lastModifiedBy>NGO Impact Platform</cp:lastModifiedBy>
  <cp:revision>1</cp:revision>
  <dcterms:created xsi:type="dcterms:W3CDTF">2026-04-01T11:49:29Z</dcterms:created>
  <dcterms:modified xsi:type="dcterms:W3CDTF">2026-04-01T11:49:29Z</dcterms:modified>
</cp:coreProperties>
</file>